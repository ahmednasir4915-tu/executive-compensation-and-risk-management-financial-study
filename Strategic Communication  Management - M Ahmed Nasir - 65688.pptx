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562AE-BC3C-409F-D043-3EBBB2AE84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591EE8-FB60-E6FD-EDB0-81FF804B88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AB0CB7-AA5A-16DA-0831-2D6F55ABD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AE30C-9DEF-4BC5-84F8-D399E3769C3E}" type="datetimeFigureOut">
              <a:rPr lang="en-US" smtClean="0"/>
              <a:t>6/28/2026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849CB0-6386-46FD-202F-35EC8DCF4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D4E531-D408-AD0C-B243-0F0C45559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C1185-A14F-44C4-AC3E-0EC4362E4D8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1251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427B3-FC95-D414-FAFA-98FCB6112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C6320B-3F4A-2F76-07E0-EA24C4885C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085871-3170-DB57-719F-659738B8B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AE30C-9DEF-4BC5-84F8-D399E3769C3E}" type="datetimeFigureOut">
              <a:rPr lang="en-US" smtClean="0"/>
              <a:t>6/28/2026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C64E7D-C281-E9E9-1336-DE4BD059D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3515DB-1DE0-93C0-47D9-98BC450C1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C1185-A14F-44C4-AC3E-0EC4362E4D8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06642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69EE8-E1BF-848E-3CF1-73C139530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378378-BBFF-1E90-1796-0BDDB77295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7D2E74-5AF0-6D6D-F4FC-6DBE682FE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AE30C-9DEF-4BC5-84F8-D399E3769C3E}" type="datetimeFigureOut">
              <a:rPr lang="en-US" smtClean="0"/>
              <a:t>6/28/2026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B3E912-46F5-FFA7-80E3-CA3AD0CEC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E29300-E45D-8AF2-7C39-71B08C219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C1185-A14F-44C4-AC3E-0EC4362E4D8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49092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B9CF2-A1C2-1B3B-822C-3936FDB95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AFAD00-DA56-464E-75B7-9590045EE1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4D3BC2-3122-980E-2D0D-17D56371FA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E677A3-B588-4A9A-A7D0-474E452F2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AE30C-9DEF-4BC5-84F8-D399E3769C3E}" type="datetimeFigureOut">
              <a:rPr lang="en-US" smtClean="0"/>
              <a:t>6/28/2026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DA0A20-2E7E-B218-091E-AA6BA2905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556178-07DF-1E3B-C66D-EBD7EB6F4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C1185-A14F-44C4-AC3E-0EC4362E4D8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4638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59259-0AC8-A5BB-6F6D-5E67DC8895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DBE199-1150-3033-251D-01D4AD5BD8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B6A347-E3C2-EB85-8AE8-505B5CC871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D3F191-860A-04C2-B7E3-17990EF2B3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3DAF53-FA7A-A5A2-F982-1B47407A4C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D21DAA-F466-FC30-1885-B36DB96B9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AE30C-9DEF-4BC5-84F8-D399E3769C3E}" type="datetimeFigureOut">
              <a:rPr lang="en-US" smtClean="0"/>
              <a:t>6/28/2026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621E321-8F88-1B89-F68D-EE9D85304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B12841-DA66-796D-1F56-9CDAF3554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C1185-A14F-44C4-AC3E-0EC4362E4D8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49721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A022A-8FEE-9167-5EBF-F6ADB87A2E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D27326-8F0E-7F40-29E7-883A4DAB7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AE30C-9DEF-4BC5-84F8-D399E3769C3E}" type="datetimeFigureOut">
              <a:rPr lang="en-US" smtClean="0"/>
              <a:t>6/28/2026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799FCF-1594-FFF4-6FDB-A76A46BAB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9E883F-4D65-0F52-26D9-D40CB65AE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C1185-A14F-44C4-AC3E-0EC4362E4D8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517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9E6DE0-4848-0053-A94F-B39D1764C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AE30C-9DEF-4BC5-84F8-D399E3769C3E}" type="datetimeFigureOut">
              <a:rPr lang="en-US" smtClean="0"/>
              <a:t>6/28/2026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F6064A-0AC6-9682-0DF4-0E9B2C11A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52F132-A867-AC67-021B-AFE86361D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C1185-A14F-44C4-AC3E-0EC4362E4D8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40389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E3737-C728-1F08-85E9-E8B0FDCEBE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7B5EA2-D46A-78C5-4627-1C44DE4257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B33F07-0C3A-FEE7-52E6-B83B9D238C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E67B3A-69F8-D229-2EBF-F6F6FE6CC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AE30C-9DEF-4BC5-84F8-D399E3769C3E}" type="datetimeFigureOut">
              <a:rPr lang="en-US" smtClean="0"/>
              <a:t>6/28/2026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6744E1-A503-1ABD-9EB5-A96B50F2B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A63E48-EBF9-BC85-D97A-DC66F6A76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C1185-A14F-44C4-AC3E-0EC4362E4D8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84622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AFD90-BFC1-5FB5-F07D-0DAAA1073A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1F2C70-66EF-7954-D2D0-A97C15BA2B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EF3A52-E1E7-CC16-F802-A290562828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B33C00-6D06-F961-0D9B-81542497B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AE30C-9DEF-4BC5-84F8-D399E3769C3E}" type="datetimeFigureOut">
              <a:rPr lang="en-US" smtClean="0"/>
              <a:t>6/28/2026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0C4E6D-D6B4-F9FD-0C35-D2FE5C60B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DB0A89-6D50-AA91-BCDC-E46B320DC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C1185-A14F-44C4-AC3E-0EC4362E4D8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52769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ADB46D-0FEC-24C1-F51D-673BB731D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C608EE-B396-3022-EECC-3E1E1C26AE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C46EAE-45DE-D56C-53CA-504845BD3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AE30C-9DEF-4BC5-84F8-D399E3769C3E}" type="datetimeFigureOut">
              <a:rPr lang="en-US" smtClean="0"/>
              <a:t>6/28/2026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421FFB-8A57-5A73-F206-F39D60F0E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144A91-2A53-51FB-8651-26A201352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C1185-A14F-44C4-AC3E-0EC4362E4D8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70405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4721D09-06CF-36C7-9EC1-52B73EDC29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534BB2-2A0A-987E-6FA3-3DAD6AA344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1E20A1-2B4E-0A10-327A-18A724DE4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AE30C-9DEF-4BC5-84F8-D399E3769C3E}" type="datetimeFigureOut">
              <a:rPr lang="en-US" smtClean="0"/>
              <a:t>6/28/2026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577408-AB4D-834B-53E5-6E23907FF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6BD06-CDD9-76FB-B3D8-B55E7AAB3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C1185-A14F-44C4-AC3E-0EC4362E4D8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0507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BFA73BC-70FF-7EBC-5BD2-A878C637BA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A0D69C-9F99-D075-3248-F5C32807FA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46E3EE-C440-F93A-FFE4-5C18A9D40D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AAE30C-9DEF-4BC5-84F8-D399E3769C3E}" type="datetimeFigureOut">
              <a:rPr lang="en-US" smtClean="0"/>
              <a:t>6/28/2026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A4E21B-00D1-EB7D-D89C-4161EDE34C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3EF516-B2C6-2182-8617-537098D0A3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9C1185-A14F-44C4-AC3E-0EC4362E4D8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60422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ECAB1E8-8195-4748-BE71-FF806D8689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1" name="!!text rectangle">
            <a:extLst>
              <a:ext uri="{FF2B5EF4-FFF2-40B4-BE49-F238E27FC236}">
                <a16:creationId xmlns:a16="http://schemas.microsoft.com/office/drawing/2014/main" id="{57F6BDD4-E066-4008-8011-6CC31AEB4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9575" y="633619"/>
            <a:ext cx="4279383" cy="5495925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1BC322-B492-8C94-807A-D5AC3115B9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247" y="978619"/>
            <a:ext cx="3410712" cy="110642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1800" b="1" noProof="0" dirty="0"/>
              <a:t>Global Strategies, Local Voices:</a:t>
            </a:r>
            <a:br>
              <a:rPr lang="en-US" sz="1800" b="1" noProof="0" dirty="0"/>
            </a:br>
            <a:r>
              <a:rPr lang="en-US" sz="1800" b="1" noProof="0" dirty="0"/>
              <a:t>How AI Changes B2B Communication Across Cultures</a:t>
            </a:r>
            <a:br>
              <a:rPr lang="en-US" sz="1800" b="1" noProof="0" dirty="0"/>
            </a:br>
            <a:endParaRPr lang="en-US" sz="1800" noProof="0" dirty="0"/>
          </a:p>
        </p:txBody>
      </p:sp>
      <p:sp>
        <p:nvSpPr>
          <p:cNvPr id="13" name="!!accent">
            <a:extLst>
              <a:ext uri="{FF2B5EF4-FFF2-40B4-BE49-F238E27FC236}">
                <a16:creationId xmlns:a16="http://schemas.microsoft.com/office/drawing/2014/main" id="{2711A8FB-68FC-45FC-B01E-38F809E2D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567" y="117043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A865FE3-5FC9-4049-87CF-30019C46C0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7459" y="2121408"/>
            <a:ext cx="3328416" cy="9144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546A1E-775F-05F0-9923-F34B066B02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1247" y="2359152"/>
            <a:ext cx="3410712" cy="3425043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700" b="1" noProof="0" dirty="0"/>
              <a:t>Muhammad Ahmed Nasir - 65688</a:t>
            </a:r>
            <a:endParaRPr lang="en-US" sz="1700" noProof="0" dirty="0"/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700" noProof="0" dirty="0"/>
              <a:t>Masters in International Business &amp; Economics (IBE)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700" noProof="0" dirty="0"/>
              <a:t>Technical University Ilmenau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700" noProof="0" dirty="0"/>
              <a:t>Strategic Communication Management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1700" noProof="0" dirty="0"/>
          </a:p>
        </p:txBody>
      </p:sp>
      <p:pic>
        <p:nvPicPr>
          <p:cNvPr id="4" name="Picture 3" descr="Chat Bubble Map Background Image ...">
            <a:extLst>
              <a:ext uri="{FF2B5EF4-FFF2-40B4-BE49-F238E27FC236}">
                <a16:creationId xmlns:a16="http://schemas.microsoft.com/office/drawing/2014/main" id="{88EE6103-8EB5-1821-4A6D-EDC05DA9B7D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956" r="2426" b="-1"/>
          <a:stretch>
            <a:fillRect/>
          </a:stretch>
        </p:blipFill>
        <p:spPr>
          <a:xfrm>
            <a:off x="5124450" y="634382"/>
            <a:ext cx="6657213" cy="5495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82696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817C7-D05D-38DF-AEC0-12013FAF5D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8557" y="1138036"/>
            <a:ext cx="5444382" cy="1402470"/>
          </a:xfrm>
        </p:spPr>
        <p:txBody>
          <a:bodyPr anchor="t">
            <a:normAutofit/>
          </a:bodyPr>
          <a:lstStyle/>
          <a:p>
            <a:r>
              <a:rPr lang="en-US" sz="3200" b="1" noProof="0" dirty="0"/>
              <a:t>Research Problem</a:t>
            </a:r>
          </a:p>
        </p:txBody>
      </p:sp>
      <p:pic>
        <p:nvPicPr>
          <p:cNvPr id="5" name="Picture 4" descr="Mobile device with apps">
            <a:extLst>
              <a:ext uri="{FF2B5EF4-FFF2-40B4-BE49-F238E27FC236}">
                <a16:creationId xmlns:a16="http://schemas.microsoft.com/office/drawing/2014/main" id="{3D985BBA-6B39-3C32-C450-A3AD419919A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8660" r="9089"/>
          <a:stretch>
            <a:fillRect/>
          </a:stretch>
        </p:blipFill>
        <p:spPr>
          <a:xfrm>
            <a:off x="-1" y="10"/>
            <a:ext cx="5151179" cy="6857990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971697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F8A8D2-6A7C-7D22-DD9C-3157337490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68557" y="2551176"/>
            <a:ext cx="5444382" cy="359120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700" noProof="0" dirty="0"/>
              <a:t>Balancing Global Scale with Local Relevance</a:t>
            </a:r>
          </a:p>
          <a:p>
            <a:r>
              <a:rPr lang="en-US" sz="1700" b="1" noProof="0" dirty="0"/>
              <a:t>The Shift:</a:t>
            </a:r>
            <a:r>
              <a:rPr lang="en-US" sz="1700" noProof="0" dirty="0"/>
              <a:t> 41.7% of organizations now use AI and digital communication tools to support international communication (Global Alliance, 2022; Zerfass et al., 2020).</a:t>
            </a:r>
          </a:p>
          <a:p>
            <a:r>
              <a:rPr lang="en-US" sz="1700" b="1" noProof="0" dirty="0"/>
              <a:t>The Challenge:</a:t>
            </a:r>
            <a:r>
              <a:rPr lang="en-US" sz="1700" noProof="0" dirty="0"/>
              <a:t> AI enables consistent global communication, but effective B2B communication still requires adapting messages to local cultural and regulatory expectations.</a:t>
            </a:r>
          </a:p>
          <a:p>
            <a:r>
              <a:rPr lang="en-US" sz="1700" b="1" noProof="0" dirty="0"/>
              <a:t>Research Question:</a:t>
            </a:r>
            <a:r>
              <a:rPr lang="en-US" sz="1700" noProof="0" dirty="0"/>
              <a:t> How can technology companies balance </a:t>
            </a:r>
            <a:r>
              <a:rPr lang="en-US" sz="1700" b="1" noProof="0" dirty="0"/>
              <a:t>global brand consistency</a:t>
            </a:r>
            <a:r>
              <a:rPr lang="en-US" sz="1700" noProof="0" dirty="0"/>
              <a:t> with </a:t>
            </a:r>
            <a:r>
              <a:rPr lang="en-US" sz="1700" b="1" noProof="0" dirty="0"/>
              <a:t>local cultural adaptation</a:t>
            </a:r>
            <a:r>
              <a:rPr lang="en-US" sz="1700" noProof="0" dirty="0"/>
              <a:t> across international markets? (Lim, 2021)</a:t>
            </a:r>
          </a:p>
        </p:txBody>
      </p:sp>
    </p:spTree>
    <p:extLst>
      <p:ext uri="{BB962C8B-B14F-4D97-AF65-F5344CB8AC3E}">
        <p14:creationId xmlns:p14="http://schemas.microsoft.com/office/powerpoint/2010/main" val="25074052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321F5-AE3D-0875-C6D0-8DB794981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8557" y="1138036"/>
            <a:ext cx="5444382" cy="1402470"/>
          </a:xfrm>
        </p:spPr>
        <p:txBody>
          <a:bodyPr anchor="t">
            <a:normAutofit/>
          </a:bodyPr>
          <a:lstStyle/>
          <a:p>
            <a:r>
              <a:rPr lang="en-US" sz="3200" b="1" noProof="0" dirty="0"/>
              <a:t>Why Localization Still Matters </a:t>
            </a:r>
            <a:endParaRPr lang="en-US" sz="3200" noProof="0" dirty="0"/>
          </a:p>
        </p:txBody>
      </p:sp>
      <p:pic>
        <p:nvPicPr>
          <p:cNvPr id="5" name="Picture 4" descr="Red toy person in front of two lines of white figures">
            <a:extLst>
              <a:ext uri="{FF2B5EF4-FFF2-40B4-BE49-F238E27FC236}">
                <a16:creationId xmlns:a16="http://schemas.microsoft.com/office/drawing/2014/main" id="{A7FA70ED-802D-95C0-DA6E-75010376165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235" r="23379"/>
          <a:stretch>
            <a:fillRect/>
          </a:stretch>
        </p:blipFill>
        <p:spPr>
          <a:xfrm>
            <a:off x="-1" y="10"/>
            <a:ext cx="5151179" cy="6857990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971697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1E32D9-6894-7F2B-972A-FCB5E3A456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68557" y="2551176"/>
            <a:ext cx="5444382" cy="359120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700" noProof="0" dirty="0"/>
              <a:t>AI Translates Language - Not Culture</a:t>
            </a:r>
          </a:p>
          <a:p>
            <a:r>
              <a:rPr lang="en-US" sz="1700" noProof="0" dirty="0"/>
              <a:t>AI can efficiently translate and distribute content across markets.</a:t>
            </a:r>
          </a:p>
          <a:p>
            <a:r>
              <a:rPr lang="en-US" sz="1700" dirty="0"/>
              <a:t>But </a:t>
            </a:r>
            <a:r>
              <a:rPr lang="en-US" sz="1700" noProof="0" dirty="0"/>
              <a:t>it cannot fully understand local business culture, stakeholder expectations, or relationship-building practices (Hornikx &amp; O'Keefe, 2009).</a:t>
            </a:r>
          </a:p>
          <a:p>
            <a:r>
              <a:rPr lang="en-US" sz="1700" noProof="0" dirty="0"/>
              <a:t>Misunderstanding cultural or regulatory expectations can reduce trust and weaken corporate reputation (Vance et al., 2015). </a:t>
            </a:r>
          </a:p>
          <a:p>
            <a:r>
              <a:rPr lang="en-US" sz="1700" noProof="0" dirty="0"/>
              <a:t>This presentation applies communication theory to examine how global firms adapt their PR strategies across cultures (Daymon &amp; Holloway, 2002). </a:t>
            </a:r>
          </a:p>
          <a:p>
            <a:pPr marL="0" indent="0">
              <a:buNone/>
            </a:pPr>
            <a:endParaRPr lang="en-US" sz="1700" noProof="0" dirty="0"/>
          </a:p>
        </p:txBody>
      </p:sp>
    </p:spTree>
    <p:extLst>
      <p:ext uri="{BB962C8B-B14F-4D97-AF65-F5344CB8AC3E}">
        <p14:creationId xmlns:p14="http://schemas.microsoft.com/office/powerpoint/2010/main" val="4648419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99D2EC-C6CC-3B45-6492-0AB8642DA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b="1" noProof="0" dirty="0">
                <a:solidFill>
                  <a:srgbClr val="FFFFFF"/>
                </a:solidFill>
              </a:rPr>
              <a:t>Case Studies</a:t>
            </a:r>
            <a:endParaRPr lang="en-US" sz="4000" noProof="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69E9CA-DF3E-7AA6-4803-8CD3708EF0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 noProof="0" dirty="0"/>
              <a:t>Comparing Two Global Technology Companies</a:t>
            </a:r>
          </a:p>
          <a:p>
            <a:pPr marL="0" indent="0">
              <a:buNone/>
            </a:pPr>
            <a:r>
              <a:rPr lang="en-US" sz="2000" b="1" noProof="0" dirty="0"/>
              <a:t>Microsoft</a:t>
            </a:r>
          </a:p>
          <a:p>
            <a:r>
              <a:rPr lang="en-US" sz="2000" noProof="0" dirty="0"/>
              <a:t>Global provider of Microsoft 365, Azure and Copilot </a:t>
            </a:r>
          </a:p>
          <a:p>
            <a:r>
              <a:rPr lang="en-US" sz="2000" noProof="0" dirty="0"/>
              <a:t>Strong global communication strategy with local adaptation (Galloway, 2021)</a:t>
            </a:r>
          </a:p>
          <a:p>
            <a:pPr marL="0" indent="0">
              <a:buNone/>
            </a:pPr>
            <a:r>
              <a:rPr lang="en-US" sz="2000" b="1" noProof="0" dirty="0"/>
              <a:t>SAP</a:t>
            </a:r>
          </a:p>
          <a:p>
            <a:r>
              <a:rPr lang="en-US" sz="2000" noProof="0" dirty="0"/>
              <a:t>European enterprise software leader </a:t>
            </a:r>
          </a:p>
          <a:p>
            <a:r>
              <a:rPr lang="en-US" sz="2000" noProof="0" dirty="0"/>
              <a:t>Communication built around compliance, governance and regional trust (Mocker et al., 2014) </a:t>
            </a:r>
          </a:p>
          <a:p>
            <a:pPr marL="0" indent="0">
              <a:buNone/>
            </a:pPr>
            <a:r>
              <a:rPr lang="en-US" sz="2000" b="1" noProof="0" dirty="0"/>
              <a:t>Approach</a:t>
            </a:r>
          </a:p>
          <a:p>
            <a:r>
              <a:rPr lang="en-US" sz="2000" noProof="0" dirty="0"/>
              <a:t>Compare how both companies communicate in Germany and the United States.</a:t>
            </a:r>
          </a:p>
          <a:p>
            <a:endParaRPr lang="en-US" sz="2000" noProof="0" dirty="0"/>
          </a:p>
          <a:p>
            <a:endParaRPr lang="en-US" sz="2000" noProof="0" dirty="0"/>
          </a:p>
        </p:txBody>
      </p:sp>
    </p:spTree>
    <p:extLst>
      <p:ext uri="{BB962C8B-B14F-4D97-AF65-F5344CB8AC3E}">
        <p14:creationId xmlns:p14="http://schemas.microsoft.com/office/powerpoint/2010/main" val="38395610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0B5CB5-9EDE-3F21-4488-659F8EE1C6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b="1" noProof="0" dirty="0">
                <a:solidFill>
                  <a:srgbClr val="FFFFFF"/>
                </a:solidFill>
              </a:rPr>
              <a:t>Microsoft's Global Strategy</a:t>
            </a:r>
            <a:endParaRPr lang="en-US" sz="4000" noProof="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643D10-F879-818A-6F2A-0DB17B5715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 b="1" noProof="0" dirty="0"/>
              <a:t>One Global Brand</a:t>
            </a:r>
          </a:p>
          <a:p>
            <a:r>
              <a:rPr lang="en-US" sz="2000" noProof="0" dirty="0"/>
              <a:t>Promotes Microsoft 365 and Azure AI as scalable productivity platforms. </a:t>
            </a:r>
          </a:p>
          <a:p>
            <a:r>
              <a:rPr lang="en-US" sz="2000" noProof="0" dirty="0"/>
              <a:t>Uses digital campaigns, LinkedIn thought leadership and global product launches. </a:t>
            </a:r>
          </a:p>
          <a:p>
            <a:r>
              <a:rPr lang="en-US" sz="2000" noProof="0" dirty="0"/>
              <a:t>Challenge: maintaining one global message while meeting different cultural expectations (Okazaki &amp; Mueller, 2007).</a:t>
            </a:r>
          </a:p>
        </p:txBody>
      </p:sp>
    </p:spTree>
    <p:extLst>
      <p:ext uri="{BB962C8B-B14F-4D97-AF65-F5344CB8AC3E}">
        <p14:creationId xmlns:p14="http://schemas.microsoft.com/office/powerpoint/2010/main" val="12068559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961805-EDAF-DDBB-1566-6965DAF0ED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b="1" noProof="0" dirty="0">
                <a:solidFill>
                  <a:srgbClr val="FFFFFF"/>
                </a:solidFill>
              </a:rPr>
              <a:t>Microsoft in Germany</a:t>
            </a:r>
            <a:endParaRPr lang="en-US" sz="4000" noProof="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D9ED6D-F868-2316-862B-42DEAE9025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 b="1" dirty="0"/>
              <a:t>Stability is More Important</a:t>
            </a:r>
            <a:endParaRPr lang="en-US" sz="2000" b="1" noProof="0" dirty="0"/>
          </a:p>
          <a:p>
            <a:r>
              <a:rPr lang="en-US" sz="2000" noProof="0" dirty="0"/>
              <a:t>German B2B buyers place greater emphasis on privacy, compliance and reliability (Hofstede, 2011). </a:t>
            </a:r>
          </a:p>
          <a:p>
            <a:r>
              <a:rPr lang="en-US" sz="2000" noProof="0" dirty="0"/>
              <a:t>Microsoft emphasizes: </a:t>
            </a:r>
          </a:p>
          <a:p>
            <a:pPr marL="0" indent="0">
              <a:buNone/>
            </a:pPr>
            <a:r>
              <a:rPr lang="en-US" sz="2000" noProof="0" dirty="0"/>
              <a:t>• GDPR compliance</a:t>
            </a:r>
          </a:p>
          <a:p>
            <a:pPr marL="0" indent="0">
              <a:buNone/>
            </a:pPr>
            <a:r>
              <a:rPr lang="en-US" sz="2000" noProof="0" dirty="0"/>
              <a:t>• Data sovereignty</a:t>
            </a:r>
          </a:p>
          <a:p>
            <a:pPr marL="0" indent="0">
              <a:buNone/>
            </a:pPr>
            <a:r>
              <a:rPr lang="en-US" sz="2000" noProof="0" dirty="0"/>
              <a:t>• Local infrastructure</a:t>
            </a:r>
          </a:p>
          <a:p>
            <a:r>
              <a:rPr lang="en-US" sz="2000" noProof="0" dirty="0"/>
              <a:t>Communication relies heavily on technical documentation, industry partnerships and expert validation (Hornikx et al., 2010).</a:t>
            </a:r>
          </a:p>
          <a:p>
            <a:endParaRPr lang="en-US" sz="2000" noProof="0" dirty="0"/>
          </a:p>
        </p:txBody>
      </p:sp>
    </p:spTree>
    <p:extLst>
      <p:ext uri="{BB962C8B-B14F-4D97-AF65-F5344CB8AC3E}">
        <p14:creationId xmlns:p14="http://schemas.microsoft.com/office/powerpoint/2010/main" val="40070503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CE83B5-D1F7-46E6-924A-06F396A610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b="1" noProof="0" dirty="0">
                <a:solidFill>
                  <a:srgbClr val="FFFFFF"/>
                </a:solidFill>
              </a:rPr>
              <a:t>Microsoft in the United States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DA4761-0E90-C645-EAE0-636BD8446E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 b="1" dirty="0"/>
              <a:t>Growth is More Important</a:t>
            </a:r>
            <a:endParaRPr lang="en-US" sz="2000" b="1" noProof="0" dirty="0"/>
          </a:p>
          <a:p>
            <a:r>
              <a:rPr lang="en-US" sz="2000" noProof="0" dirty="0"/>
              <a:t>US organizations generally adopt new technologies more quickly and place greater emphasis on innovation and business performance (Hofstede, 2011). </a:t>
            </a:r>
          </a:p>
          <a:p>
            <a:r>
              <a:rPr lang="en-US" sz="2000" noProof="0" dirty="0"/>
              <a:t>Microsoft highlights: </a:t>
            </a:r>
          </a:p>
          <a:p>
            <a:pPr marL="0" indent="0">
              <a:buNone/>
            </a:pPr>
            <a:r>
              <a:rPr lang="en-US" sz="2000" noProof="0" dirty="0"/>
              <a:t>• Innovation</a:t>
            </a:r>
          </a:p>
          <a:p>
            <a:pPr marL="0" indent="0">
              <a:buNone/>
            </a:pPr>
            <a:r>
              <a:rPr lang="en-US" sz="2000" noProof="0" dirty="0"/>
              <a:t>• Productivity</a:t>
            </a:r>
          </a:p>
          <a:p>
            <a:pPr marL="0" indent="0">
              <a:buNone/>
            </a:pPr>
            <a:r>
              <a:rPr lang="en-US" sz="2000" noProof="0" dirty="0"/>
              <a:t>• Rapid feature releases</a:t>
            </a:r>
          </a:p>
          <a:p>
            <a:pPr marL="0" indent="0">
              <a:buNone/>
            </a:pPr>
            <a:r>
              <a:rPr lang="en-US" sz="2000" noProof="0" dirty="0"/>
              <a:t>• Business value</a:t>
            </a:r>
          </a:p>
          <a:p>
            <a:r>
              <a:rPr lang="en-US" sz="2000" noProof="0" dirty="0"/>
              <a:t>Communication focuses on speed, competitive advantage and practical AI use cases.</a:t>
            </a:r>
          </a:p>
          <a:p>
            <a:endParaRPr lang="en-US" sz="2000" noProof="0" dirty="0"/>
          </a:p>
        </p:txBody>
      </p:sp>
    </p:spTree>
    <p:extLst>
      <p:ext uri="{BB962C8B-B14F-4D97-AF65-F5344CB8AC3E}">
        <p14:creationId xmlns:p14="http://schemas.microsoft.com/office/powerpoint/2010/main" val="42172865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911711-0497-0C69-BDCA-9967D639D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3400" b="1" noProof="0" dirty="0">
                <a:solidFill>
                  <a:srgbClr val="FFFFFF"/>
                </a:solidFill>
              </a:rPr>
              <a:t>SAP's Communication Strategy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F429DA-16DA-A246-CD99-E49C1068C7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 b="1" noProof="0" dirty="0"/>
              <a:t>Localization as a Core Strategy</a:t>
            </a:r>
          </a:p>
          <a:p>
            <a:r>
              <a:rPr lang="en-US" sz="2000" noProof="0" dirty="0"/>
              <a:t>Unlike Microsoft, SAP's communication strategy begins with regional compliance rather than adapting a global message afterwards.</a:t>
            </a:r>
          </a:p>
          <a:p>
            <a:r>
              <a:rPr lang="en-US" sz="2000" noProof="0" dirty="0"/>
              <a:t>SAP emphasizes:</a:t>
            </a:r>
          </a:p>
          <a:p>
            <a:r>
              <a:rPr lang="en-US" sz="2000" noProof="0" dirty="0"/>
              <a:t>European regulatory compliance </a:t>
            </a:r>
          </a:p>
          <a:p>
            <a:r>
              <a:rPr lang="en-US" sz="2000" noProof="0" dirty="0"/>
              <a:t>Long-term customer relationships </a:t>
            </a:r>
          </a:p>
          <a:p>
            <a:r>
              <a:rPr lang="en-US" sz="2000" noProof="0" dirty="0"/>
              <a:t>Industry partnerships </a:t>
            </a:r>
          </a:p>
          <a:p>
            <a:r>
              <a:rPr lang="en-US" sz="2000" noProof="0" dirty="0"/>
              <a:t>Trust and governance </a:t>
            </a:r>
          </a:p>
          <a:p>
            <a:r>
              <a:rPr lang="en-US" sz="2000" noProof="0" dirty="0"/>
              <a:t>This provides credibility in highly regulated markets.</a:t>
            </a:r>
          </a:p>
          <a:p>
            <a:pPr marL="0" indent="0">
              <a:buNone/>
            </a:pPr>
            <a:endParaRPr lang="en-US" sz="2000" noProof="0" dirty="0"/>
          </a:p>
        </p:txBody>
      </p:sp>
    </p:spTree>
    <p:extLst>
      <p:ext uri="{BB962C8B-B14F-4D97-AF65-F5344CB8AC3E}">
        <p14:creationId xmlns:p14="http://schemas.microsoft.com/office/powerpoint/2010/main" val="39374342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0C298-63AB-6A2E-E0A6-831E5BFB0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noProof="0" dirty="0"/>
              <a:t>Comparing Both Approaches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E18C04DD-A160-774A-3E79-161A5F1476B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37110926"/>
              </p:ext>
            </p:extLst>
          </p:nvPr>
        </p:nvGraphicFramePr>
        <p:xfrm>
          <a:off x="838200" y="1825625"/>
          <a:ext cx="10515597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620811850"/>
                    </a:ext>
                  </a:extLst>
                </a:gridCol>
                <a:gridCol w="3561736">
                  <a:extLst>
                    <a:ext uri="{9D8B030D-6E8A-4147-A177-3AD203B41FA5}">
                      <a16:colId xmlns:a16="http://schemas.microsoft.com/office/drawing/2014/main" val="3022580086"/>
                    </a:ext>
                  </a:extLst>
                </a:gridCol>
                <a:gridCol w="3448662">
                  <a:extLst>
                    <a:ext uri="{9D8B030D-6E8A-4147-A177-3AD203B41FA5}">
                      <a16:colId xmlns:a16="http://schemas.microsoft.com/office/drawing/2014/main" val="35239348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noProof="0" dirty="0"/>
                        <a:t>Dimension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 dirty="0"/>
                        <a:t>Microsoft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 dirty="0"/>
                        <a:t>SAP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13343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noProof="0" dirty="0"/>
                        <a:t>Global Strategy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noProof="0" dirty="0"/>
                        <a:t>Standardized global brand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noProof="0" dirty="0"/>
                        <a:t>Regional-first approach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13493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noProof="0" dirty="0"/>
                        <a:t>Germany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 dirty="0"/>
                        <a:t>Privacy &amp; compliance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 dirty="0"/>
                        <a:t>Native compliance leadership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81790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noProof="0" dirty="0"/>
                        <a:t>United States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 dirty="0"/>
                        <a:t>Innovation &amp; productivity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 dirty="0"/>
                        <a:t>Stability &amp; enterprise efficiency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82639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noProof="0" dirty="0"/>
                        <a:t>Communication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 dirty="0"/>
                        <a:t>Digital-first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 dirty="0"/>
                        <a:t>Relationship-driven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320324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B5BB81E9-DD24-073F-50DC-AC68520392E4}"/>
              </a:ext>
            </a:extLst>
          </p:cNvPr>
          <p:cNvSpPr txBox="1"/>
          <p:nvPr/>
        </p:nvSpPr>
        <p:spPr>
          <a:xfrm>
            <a:off x="838200" y="4621161"/>
            <a:ext cx="988879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noProof="0" dirty="0"/>
          </a:p>
          <a:p>
            <a:r>
              <a:rPr lang="en-US" noProof="0" dirty="0"/>
              <a:t>Both companies maintain a consistent brand but communicate differently depending on market expectations.</a:t>
            </a:r>
          </a:p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289588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D282A7-6043-9BA8-1691-3B50A9930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b="1" noProof="0" dirty="0">
                <a:solidFill>
                  <a:srgbClr val="FFFFFF"/>
                </a:solidFill>
              </a:rPr>
              <a:t>Where AI Helps—and Where It Doesn't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BA9936-9ACB-E67A-998F-2D09D41F8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 noProof="0" dirty="0"/>
              <a:t>AI in Global PR</a:t>
            </a:r>
          </a:p>
          <a:p>
            <a:pPr marL="0" indent="0">
              <a:buNone/>
            </a:pPr>
            <a:r>
              <a:rPr lang="en-US" sz="2000" b="1" noProof="0" dirty="0"/>
              <a:t>Benefits</a:t>
            </a:r>
          </a:p>
          <a:p>
            <a:r>
              <a:rPr lang="en-US" sz="2000" noProof="0" dirty="0"/>
              <a:t>Faster localization </a:t>
            </a:r>
          </a:p>
          <a:p>
            <a:r>
              <a:rPr lang="en-US" sz="2000" noProof="0" dirty="0"/>
              <a:t>Scalable communication </a:t>
            </a:r>
          </a:p>
          <a:p>
            <a:r>
              <a:rPr lang="en-US" sz="2000" noProof="0" dirty="0"/>
              <a:t>Content automation </a:t>
            </a:r>
          </a:p>
          <a:p>
            <a:r>
              <a:rPr lang="en-US" sz="2000" noProof="0" dirty="0"/>
              <a:t>Audience insights </a:t>
            </a:r>
          </a:p>
          <a:p>
            <a:pPr marL="0" indent="0">
              <a:buNone/>
            </a:pPr>
            <a:r>
              <a:rPr lang="en-US" sz="2000" b="1" noProof="0" dirty="0"/>
              <a:t>Limitations</a:t>
            </a:r>
          </a:p>
          <a:p>
            <a:r>
              <a:rPr lang="en-US" sz="2000" noProof="0" dirty="0"/>
              <a:t>Limited cultural understanding </a:t>
            </a:r>
          </a:p>
          <a:p>
            <a:r>
              <a:rPr lang="en-US" sz="2000" noProof="0" dirty="0"/>
              <a:t>Generic messaging </a:t>
            </a:r>
          </a:p>
          <a:p>
            <a:r>
              <a:rPr lang="en-US" sz="2000" noProof="0" dirty="0"/>
              <a:t>Risk of stereotypes </a:t>
            </a:r>
          </a:p>
          <a:p>
            <a:r>
              <a:rPr lang="en-US" sz="2000" noProof="0" dirty="0"/>
              <a:t>Reduced stakeholder trust </a:t>
            </a:r>
          </a:p>
          <a:p>
            <a:pPr marL="0" indent="0">
              <a:buNone/>
            </a:pPr>
            <a:endParaRPr lang="en-US" sz="2000" b="1" noProof="0" dirty="0"/>
          </a:p>
          <a:p>
            <a:pPr marL="0" indent="0">
              <a:buNone/>
            </a:pPr>
            <a:r>
              <a:rPr lang="en-US" sz="2000" noProof="0" dirty="0"/>
              <a:t>AI improves efficiency, but human judgement remains essential.</a:t>
            </a:r>
          </a:p>
          <a:p>
            <a:endParaRPr lang="en-US" sz="2000" noProof="0" dirty="0"/>
          </a:p>
        </p:txBody>
      </p:sp>
    </p:spTree>
    <p:extLst>
      <p:ext uri="{BB962C8B-B14F-4D97-AF65-F5344CB8AC3E}">
        <p14:creationId xmlns:p14="http://schemas.microsoft.com/office/powerpoint/2010/main" val="17602556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93DCA4-776C-45E4-281C-0887E2839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3400" b="1" noProof="0" dirty="0">
                <a:solidFill>
                  <a:srgbClr val="FFFFFF"/>
                </a:solidFill>
              </a:rPr>
              <a:t>Ethics in AI Communication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676F62-C461-DE93-3916-FF7F0C0853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 b="1" noProof="0" dirty="0"/>
              <a:t>Building Trust</a:t>
            </a:r>
          </a:p>
          <a:p>
            <a:r>
              <a:rPr lang="en-US" sz="2000" noProof="0" dirty="0"/>
              <a:t>Organizations increasingly view responsible AI as a strategic priority (Global Alliance, 2022).</a:t>
            </a:r>
          </a:p>
          <a:p>
            <a:r>
              <a:rPr lang="en-US" sz="2000" noProof="0" dirty="0"/>
              <a:t>Effective AI communication thus requires:</a:t>
            </a:r>
          </a:p>
          <a:p>
            <a:pPr marL="0" indent="0">
              <a:buNone/>
            </a:pPr>
            <a:r>
              <a:rPr lang="en-US" sz="2000" noProof="0" dirty="0"/>
              <a:t>Transparency </a:t>
            </a:r>
          </a:p>
          <a:p>
            <a:pPr marL="0" indent="0">
              <a:buNone/>
            </a:pPr>
            <a:r>
              <a:rPr lang="en-US" sz="2000" noProof="0" dirty="0"/>
              <a:t>Data privacy </a:t>
            </a:r>
          </a:p>
          <a:p>
            <a:pPr marL="0" indent="0">
              <a:buNone/>
            </a:pPr>
            <a:r>
              <a:rPr lang="en-US" sz="2000" noProof="0" dirty="0"/>
              <a:t>Human oversight </a:t>
            </a:r>
          </a:p>
          <a:p>
            <a:pPr marL="0" indent="0">
              <a:buNone/>
            </a:pPr>
            <a:r>
              <a:rPr lang="en-US" sz="2000" noProof="0" dirty="0"/>
              <a:t>Accountability </a:t>
            </a:r>
          </a:p>
          <a:p>
            <a:r>
              <a:rPr lang="en-US" sz="2000" noProof="0" dirty="0"/>
              <a:t>Ethics is now part of strategic communication—not simply a technical issue.</a:t>
            </a:r>
          </a:p>
          <a:p>
            <a:endParaRPr lang="en-US" sz="2000" noProof="0" dirty="0"/>
          </a:p>
        </p:txBody>
      </p:sp>
    </p:spTree>
    <p:extLst>
      <p:ext uri="{BB962C8B-B14F-4D97-AF65-F5344CB8AC3E}">
        <p14:creationId xmlns:p14="http://schemas.microsoft.com/office/powerpoint/2010/main" val="21411515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39B462-F8B7-6E35-B7F8-696AE4F5E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b="1" noProof="0" dirty="0">
                <a:solidFill>
                  <a:srgbClr val="FFFFFF"/>
                </a:solidFill>
              </a:rPr>
              <a:t>Applying the ALTAI Framework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5D7253-30E7-CB04-459C-E3E1AFB5F0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 b="1" noProof="0" dirty="0"/>
              <a:t>AI Governance for PR</a:t>
            </a:r>
          </a:p>
          <a:p>
            <a:pPr marL="0" indent="0">
              <a:buNone/>
            </a:pPr>
            <a:r>
              <a:rPr lang="en-US" sz="2000" noProof="0" dirty="0"/>
              <a:t>The EU's Trustworthy AI principles can also guide communication strategy.</a:t>
            </a:r>
          </a:p>
          <a:p>
            <a:pPr marL="0" indent="0">
              <a:buNone/>
            </a:pPr>
            <a:r>
              <a:rPr lang="en-US" sz="2000" b="1" noProof="0" dirty="0"/>
              <a:t>Transparency</a:t>
            </a:r>
          </a:p>
          <a:p>
            <a:pPr marL="0" indent="0">
              <a:buNone/>
            </a:pPr>
            <a:r>
              <a:rPr lang="en-US" sz="2000" noProof="0" dirty="0"/>
              <a:t>Disclose AI-generated content where appropriate.</a:t>
            </a:r>
          </a:p>
          <a:p>
            <a:pPr marL="0" indent="0">
              <a:buNone/>
            </a:pPr>
            <a:r>
              <a:rPr lang="en-US" sz="2000" b="1" noProof="0" dirty="0"/>
              <a:t>Fairness</a:t>
            </a:r>
          </a:p>
          <a:p>
            <a:pPr marL="0" indent="0">
              <a:buNone/>
            </a:pPr>
            <a:r>
              <a:rPr lang="en-US" sz="2000" noProof="0" dirty="0"/>
              <a:t>Review localized content for cultural bias.</a:t>
            </a:r>
          </a:p>
          <a:p>
            <a:pPr marL="0" indent="0">
              <a:buNone/>
            </a:pPr>
            <a:r>
              <a:rPr lang="en-US" sz="2000" b="1" noProof="0" dirty="0"/>
              <a:t>Accountability</a:t>
            </a:r>
          </a:p>
          <a:p>
            <a:pPr marL="0" indent="0">
              <a:buNone/>
            </a:pPr>
            <a:r>
              <a:rPr lang="en-US" sz="2000" noProof="0" dirty="0"/>
              <a:t>Human responsibility remains essential for all public communication.</a:t>
            </a:r>
          </a:p>
          <a:p>
            <a:endParaRPr lang="en-US" sz="2000" noProof="0" dirty="0"/>
          </a:p>
        </p:txBody>
      </p:sp>
    </p:spTree>
    <p:extLst>
      <p:ext uri="{BB962C8B-B14F-4D97-AF65-F5344CB8AC3E}">
        <p14:creationId xmlns:p14="http://schemas.microsoft.com/office/powerpoint/2010/main" val="36985175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792937-E8F5-015D-5011-E280020476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b="1" noProof="0" dirty="0">
                <a:solidFill>
                  <a:srgbClr val="FFFFFF"/>
                </a:solidFill>
              </a:rPr>
              <a:t>Proposed Governance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7C76A-6532-1740-F550-97BB19BAE4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 b="1" noProof="0" dirty="0"/>
              <a:t>Human-in-the-Loop Communication</a:t>
            </a:r>
          </a:p>
          <a:p>
            <a:pPr marL="0" indent="0">
              <a:buNone/>
            </a:pPr>
            <a:r>
              <a:rPr lang="en-US" sz="2000" b="1" noProof="0" dirty="0"/>
              <a:t>AI</a:t>
            </a:r>
          </a:p>
          <a:p>
            <a:pPr marL="0" indent="0">
              <a:buNone/>
            </a:pPr>
            <a:r>
              <a:rPr lang="en-US" sz="2000" noProof="0" dirty="0"/>
              <a:t>Generates and scales communication efficiently.</a:t>
            </a:r>
          </a:p>
          <a:p>
            <a:pPr marL="0" indent="0">
              <a:buNone/>
            </a:pPr>
            <a:r>
              <a:rPr lang="en-US" sz="2000" b="1" noProof="0" dirty="0"/>
              <a:t>Local Experts</a:t>
            </a:r>
          </a:p>
          <a:p>
            <a:pPr marL="0" indent="0">
              <a:buNone/>
            </a:pPr>
            <a:r>
              <a:rPr lang="en-US" sz="2000" noProof="0" dirty="0"/>
              <a:t>Adapt language, culture and regulatory context.</a:t>
            </a:r>
          </a:p>
          <a:p>
            <a:pPr marL="0" indent="0">
              <a:buNone/>
            </a:pPr>
            <a:r>
              <a:rPr lang="en-US" sz="2000" b="1" noProof="0" dirty="0"/>
              <a:t>Governance</a:t>
            </a:r>
          </a:p>
          <a:p>
            <a:pPr marL="0" indent="0">
              <a:buNone/>
            </a:pPr>
            <a:r>
              <a:rPr lang="en-US" sz="2000" noProof="0" dirty="0"/>
              <a:t>Review outputs using ethical and organizational standards.</a:t>
            </a:r>
          </a:p>
          <a:p>
            <a:pPr marL="0" indent="0">
              <a:buNone/>
            </a:pPr>
            <a:endParaRPr lang="en-US" sz="2000" b="1" noProof="0" dirty="0"/>
          </a:p>
          <a:p>
            <a:pPr marL="0" indent="0">
              <a:buNone/>
            </a:pPr>
            <a:r>
              <a:rPr lang="en-US" sz="2000" noProof="0" dirty="0"/>
              <a:t>Technology scales communication.</a:t>
            </a:r>
          </a:p>
          <a:p>
            <a:pPr marL="0" indent="0">
              <a:buNone/>
            </a:pPr>
            <a:r>
              <a:rPr lang="en-US" sz="2000" noProof="0" dirty="0"/>
              <a:t>People ensure relevance and trust.</a:t>
            </a:r>
          </a:p>
          <a:p>
            <a:endParaRPr lang="en-US" sz="2000" noProof="0" dirty="0"/>
          </a:p>
        </p:txBody>
      </p:sp>
    </p:spTree>
    <p:extLst>
      <p:ext uri="{BB962C8B-B14F-4D97-AF65-F5344CB8AC3E}">
        <p14:creationId xmlns:p14="http://schemas.microsoft.com/office/powerpoint/2010/main" val="14001751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117678-EFDB-4DD8-87A0-546A63354D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b="1" noProof="0" dirty="0">
                <a:solidFill>
                  <a:srgbClr val="FFFFFF"/>
                </a:solidFill>
              </a:rPr>
              <a:t>Research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93D416-8060-5199-AA0D-F4567CFAE9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 b="1" noProof="0" dirty="0"/>
              <a:t>Evidence Used</a:t>
            </a:r>
          </a:p>
          <a:p>
            <a:pPr marL="0" indent="0">
              <a:buNone/>
            </a:pPr>
            <a:r>
              <a:rPr lang="en-US" sz="2000" noProof="0" dirty="0"/>
              <a:t>This presentation combines:</a:t>
            </a:r>
          </a:p>
          <a:p>
            <a:r>
              <a:rPr lang="en-US" sz="2000" noProof="0" dirty="0"/>
              <a:t>Peer-reviewed academic literature </a:t>
            </a:r>
          </a:p>
          <a:p>
            <a:r>
              <a:rPr lang="en-US" sz="2000" noProof="0" dirty="0"/>
              <a:t>Global Alliance industry data </a:t>
            </a:r>
          </a:p>
          <a:p>
            <a:r>
              <a:rPr lang="en-US" sz="2000" noProof="0" dirty="0"/>
              <a:t>CIPR and Institute for Public Relations reports </a:t>
            </a:r>
          </a:p>
          <a:p>
            <a:r>
              <a:rPr lang="en-US" sz="2000" noProof="0" dirty="0"/>
              <a:t>Comparative case studies of Microsoft and SAP </a:t>
            </a:r>
          </a:p>
          <a:p>
            <a:pPr marL="0" indent="0">
              <a:buNone/>
            </a:pPr>
            <a:endParaRPr lang="en-US" sz="2000" noProof="0" dirty="0"/>
          </a:p>
          <a:p>
            <a:endParaRPr lang="en-US" sz="2000" noProof="0" dirty="0"/>
          </a:p>
        </p:txBody>
      </p:sp>
    </p:spTree>
    <p:extLst>
      <p:ext uri="{BB962C8B-B14F-4D97-AF65-F5344CB8AC3E}">
        <p14:creationId xmlns:p14="http://schemas.microsoft.com/office/powerpoint/2010/main" val="36040995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E5F4C1-4ECA-7020-369F-90857F239D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2800" b="1" noProof="0" dirty="0">
                <a:solidFill>
                  <a:srgbClr val="FFFFFF"/>
                </a:solidFill>
              </a:rPr>
              <a:t>Strategic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203E15-076F-BCD8-7302-92F46A8A5D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 b="1" noProof="0" dirty="0"/>
              <a:t>Recommendations for Global Organizations</a:t>
            </a:r>
          </a:p>
          <a:p>
            <a:r>
              <a:rPr lang="en-US" sz="2000" noProof="0" dirty="0"/>
              <a:t>Combine AI with local human expertise. </a:t>
            </a:r>
          </a:p>
          <a:p>
            <a:r>
              <a:rPr lang="en-US" sz="2000" noProof="0" dirty="0"/>
              <a:t>Adapt communication to cultural and regulatory expectations. </a:t>
            </a:r>
          </a:p>
          <a:p>
            <a:r>
              <a:rPr lang="en-US" sz="2000" noProof="0" dirty="0"/>
              <a:t>Use ethical AI governance throughout communication workflows. </a:t>
            </a:r>
          </a:p>
          <a:p>
            <a:r>
              <a:rPr lang="en-US" sz="2000" noProof="0" dirty="0"/>
              <a:t>Treat localization as a strategic investment rather than a translation exercise. </a:t>
            </a:r>
          </a:p>
          <a:p>
            <a:endParaRPr lang="en-US" sz="2000" noProof="0" dirty="0"/>
          </a:p>
        </p:txBody>
      </p:sp>
    </p:spTree>
    <p:extLst>
      <p:ext uri="{BB962C8B-B14F-4D97-AF65-F5344CB8AC3E}">
        <p14:creationId xmlns:p14="http://schemas.microsoft.com/office/powerpoint/2010/main" val="6275828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193F23-0D6F-9324-D5F7-7B6FD679E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b="1" noProof="0" dirty="0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F49EF7-AB20-C572-B4B8-EBFCFF0956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 b="1" noProof="0" dirty="0"/>
              <a:t>Answering the Research Question</a:t>
            </a:r>
          </a:p>
          <a:p>
            <a:pPr marL="0" indent="0">
              <a:buNone/>
            </a:pPr>
            <a:r>
              <a:rPr lang="en-US" sz="2000" noProof="0" dirty="0"/>
              <a:t>This analysis shows that successful AI-powered B2B communication depends on balancing </a:t>
            </a:r>
            <a:r>
              <a:rPr lang="en-US" sz="2000" b="1" noProof="0" dirty="0"/>
              <a:t>global consistency</a:t>
            </a:r>
            <a:r>
              <a:rPr lang="en-US" sz="2000" noProof="0" dirty="0"/>
              <a:t> with </a:t>
            </a:r>
            <a:r>
              <a:rPr lang="en-US" sz="2000" b="1" noProof="0" dirty="0"/>
              <a:t>local adaptation</a:t>
            </a:r>
            <a:r>
              <a:rPr lang="en-US" sz="2000" noProof="0" dirty="0"/>
              <a:t>.</a:t>
            </a:r>
          </a:p>
          <a:p>
            <a:pPr marL="0" indent="0">
              <a:buNone/>
            </a:pPr>
            <a:r>
              <a:rPr lang="en-US" sz="2000" noProof="0" dirty="0"/>
              <a:t>AI makes communication faster and more scalable.</a:t>
            </a:r>
          </a:p>
          <a:p>
            <a:pPr marL="0" indent="0">
              <a:buNone/>
            </a:pPr>
            <a:r>
              <a:rPr lang="en-US" sz="2000" dirty="0"/>
              <a:t>Anyways</a:t>
            </a:r>
            <a:r>
              <a:rPr lang="en-US" sz="2000" noProof="0" dirty="0"/>
              <a:t>, human expertise remains essential for ensuring cultural relevance, ethical communication and stakeholder trust.</a:t>
            </a:r>
          </a:p>
          <a:p>
            <a:pPr marL="0" indent="0">
              <a:buNone/>
            </a:pPr>
            <a:r>
              <a:rPr lang="en-US" sz="2000" noProof="0" dirty="0"/>
              <a:t>The strongest communication strategies combine technology with local knowledge—not one or the other.</a:t>
            </a:r>
          </a:p>
          <a:p>
            <a:endParaRPr lang="en-US" sz="2000" noProof="0" dirty="0"/>
          </a:p>
        </p:txBody>
      </p:sp>
    </p:spTree>
    <p:extLst>
      <p:ext uri="{BB962C8B-B14F-4D97-AF65-F5344CB8AC3E}">
        <p14:creationId xmlns:p14="http://schemas.microsoft.com/office/powerpoint/2010/main" val="5444312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5B017A-9CA9-DEAD-4F4B-0E729B671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b="1" noProof="0" dirty="0">
                <a:solidFill>
                  <a:srgbClr val="FFFFFF"/>
                </a:solidFill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8D22AB-5BFE-76A6-0F1B-6B00188091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35711" y="1201328"/>
            <a:ext cx="6555347" cy="5546047"/>
          </a:xfrm>
        </p:spPr>
        <p:txBody>
          <a:bodyPr anchor="ctr">
            <a:noAutofit/>
          </a:bodyPr>
          <a:lstStyle/>
          <a:p>
            <a:r>
              <a:rPr lang="en-US" sz="900" b="1" noProof="0" dirty="0"/>
              <a:t>Bowen, Shannon A.</a:t>
            </a:r>
            <a:r>
              <a:rPr lang="en-US" sz="900" noProof="0" dirty="0"/>
              <a:t> 2021. "Public Relations Is at the Intersection of Artificial Intelligence and Ethics." </a:t>
            </a:r>
            <a:r>
              <a:rPr lang="en-US" sz="900" i="1" noProof="0" dirty="0"/>
              <a:t>Public Relations Journal</a:t>
            </a:r>
            <a:r>
              <a:rPr lang="en-US" sz="900" noProof="0" dirty="0"/>
              <a:t> 14 (3): 1–15. </a:t>
            </a:r>
          </a:p>
          <a:p>
            <a:r>
              <a:rPr lang="en-US" sz="900" b="1" noProof="0" dirty="0"/>
              <a:t>Daymon, Christine, and Immy Holloway.</a:t>
            </a:r>
            <a:r>
              <a:rPr lang="en-US" sz="900" noProof="0" dirty="0"/>
              <a:t> 2002. </a:t>
            </a:r>
            <a:r>
              <a:rPr lang="en-US" sz="900" i="1" noProof="0" dirty="0"/>
              <a:t>Qualitative Research Methods in Public Relations and Marketing Communications.</a:t>
            </a:r>
            <a:r>
              <a:rPr lang="en-US" sz="900" noProof="0" dirty="0"/>
              <a:t> London: Routledge. </a:t>
            </a:r>
          </a:p>
          <a:p>
            <a:r>
              <a:rPr lang="en-US" sz="900" b="1" noProof="0" dirty="0"/>
              <a:t>Diehl, Sandra, Ralf Terlutter, and Barbara Mueller.</a:t>
            </a:r>
            <a:r>
              <a:rPr lang="en-US" sz="900" noProof="0" dirty="0"/>
              <a:t> 2016. "The Influence of Culture on B2B Communication Effectiveness: A Cross-Cultural Analysis." </a:t>
            </a:r>
            <a:r>
              <a:rPr lang="en-US" sz="900" i="1" noProof="0" dirty="0"/>
              <a:t>International Journal of Advertising</a:t>
            </a:r>
            <a:r>
              <a:rPr lang="en-US" sz="900" noProof="0" dirty="0"/>
              <a:t> 35 (2): 283–307.</a:t>
            </a:r>
          </a:p>
          <a:p>
            <a:r>
              <a:rPr lang="en-US" sz="900" b="1" noProof="0" dirty="0"/>
              <a:t>Floridi, Luciano, Josh Cowls, Monica Beltrametti, Liesbeth Chatila, Patrice Chazerand, Virginia Dignum, Christoph Luetge, et al.</a:t>
            </a:r>
            <a:r>
              <a:rPr lang="en-US" sz="900" noProof="0" dirty="0"/>
              <a:t> 2018. "AI4People—An Ethical Framework for a Good AI Society: Opportunities, Risks, Principles, and Recommendations." </a:t>
            </a:r>
            <a:r>
              <a:rPr lang="en-US" sz="900" i="1" noProof="0" dirty="0"/>
              <a:t>Minds and Machines</a:t>
            </a:r>
            <a:r>
              <a:rPr lang="en-US" sz="900" noProof="0" dirty="0"/>
              <a:t> 28 (4): 689–707. </a:t>
            </a:r>
          </a:p>
          <a:p>
            <a:r>
              <a:rPr lang="en-US" sz="900" b="1" noProof="0" dirty="0"/>
              <a:t>Galloway, Stuart.</a:t>
            </a:r>
            <a:r>
              <a:rPr lang="en-US" sz="900" noProof="0" dirty="0"/>
              <a:t> 2021. "Hyperscale Cloud Strategies and Global Positioning: The Case of Microsoft Azure." </a:t>
            </a:r>
            <a:r>
              <a:rPr lang="en-US" sz="900" i="1" noProof="0" dirty="0"/>
              <a:t>Journal of Information Technology Case and Application Research</a:t>
            </a:r>
            <a:r>
              <a:rPr lang="en-US" sz="900" noProof="0" dirty="0"/>
              <a:t> 23 (4): 245–268. </a:t>
            </a:r>
          </a:p>
          <a:p>
            <a:r>
              <a:rPr lang="en-US" sz="900" b="1" noProof="0" dirty="0"/>
              <a:t>Global Alliance for Public Relations and Communication Management.</a:t>
            </a:r>
            <a:r>
              <a:rPr lang="en-US" sz="900" noProof="0" dirty="0"/>
              <a:t> 2022. </a:t>
            </a:r>
            <a:r>
              <a:rPr lang="en-US" sz="900" i="1" noProof="0" dirty="0"/>
              <a:t>Approaching the Future 2022: Trends in Reputation and Brand Management.</a:t>
            </a:r>
          </a:p>
          <a:p>
            <a:r>
              <a:rPr lang="en-US" sz="900" b="1" noProof="0" dirty="0"/>
              <a:t>Hofstede, Geert.</a:t>
            </a:r>
            <a:r>
              <a:rPr lang="en-US" sz="900" noProof="0" dirty="0"/>
              <a:t> 2011. "Dimensionalizing Cultures: The Hofstede Model in Context." </a:t>
            </a:r>
            <a:r>
              <a:rPr lang="en-US" sz="900" i="1" noProof="0" dirty="0"/>
              <a:t>Online Readings in Psychology and Culture</a:t>
            </a:r>
            <a:r>
              <a:rPr lang="en-US" sz="900" noProof="0" dirty="0"/>
              <a:t> 2 (1): 1–26. </a:t>
            </a:r>
          </a:p>
          <a:p>
            <a:r>
              <a:rPr lang="en-US" sz="900" b="1" noProof="0" dirty="0"/>
              <a:t>Hornikx, Jos, and Daniel J. O'Keefe.</a:t>
            </a:r>
            <a:r>
              <a:rPr lang="en-US" sz="900" noProof="0" dirty="0"/>
              <a:t> 2009. "Adapting Consumer Advertising Appeals to Cultural Values: A Meta-Analytic Review of Effects on Persuasiveness and Liking." </a:t>
            </a:r>
            <a:r>
              <a:rPr lang="en-US" sz="900" i="1" noProof="0" dirty="0"/>
              <a:t>Communication Yearbook</a:t>
            </a:r>
            <a:r>
              <a:rPr lang="en-US" sz="900" noProof="0" dirty="0"/>
              <a:t> 33 (1): 39–71. </a:t>
            </a:r>
          </a:p>
          <a:p>
            <a:r>
              <a:rPr lang="en-US" sz="900" b="1" noProof="0" dirty="0"/>
              <a:t>Hornikx, Jos, Frank van Meurs, and Ad de Boer.</a:t>
            </a:r>
            <a:r>
              <a:rPr lang="en-US" sz="900" noProof="0" dirty="0"/>
              <a:t> 2010. "The Effectiveness of Culturally Adapted B2B Message Elements in Low and High Uncertainty Avoidance Cultures." </a:t>
            </a:r>
            <a:r>
              <a:rPr lang="en-US" sz="900" i="1" noProof="0" dirty="0"/>
              <a:t>Journal of Business and Technical Communication</a:t>
            </a:r>
            <a:r>
              <a:rPr lang="en-US" sz="900" noProof="0" dirty="0"/>
              <a:t> 24 (2): 182–205.</a:t>
            </a:r>
          </a:p>
          <a:p>
            <a:r>
              <a:rPr lang="en-US" sz="900" b="1" noProof="0" dirty="0"/>
              <a:t>Jobin, Anna, Marcello Ienca, and Effy Vayena.</a:t>
            </a:r>
            <a:r>
              <a:rPr lang="en-US" sz="900" noProof="0" dirty="0"/>
              <a:t> 2019. "The Global Landscape of AI Ethics Guidelines." </a:t>
            </a:r>
            <a:r>
              <a:rPr lang="en-US" sz="900" i="1" noProof="0" dirty="0"/>
              <a:t>Nature Machine Intelligence</a:t>
            </a:r>
            <a:r>
              <a:rPr lang="en-US" sz="900" noProof="0" dirty="0"/>
              <a:t> 1 (9): 389–399. </a:t>
            </a:r>
          </a:p>
          <a:p>
            <a:r>
              <a:rPr lang="en-US" sz="900" b="1" noProof="0" dirty="0"/>
              <a:t>Kalyanaraman, Sriram, and S. Shyam Sundar.</a:t>
            </a:r>
            <a:r>
              <a:rPr lang="en-US" sz="900" noProof="0" dirty="0"/>
              <a:t> 2006. "The Psychological Appeal of Personalized Content in Digital Channels." </a:t>
            </a:r>
            <a:r>
              <a:rPr lang="en-US" sz="900" i="1" noProof="0" dirty="0"/>
              <a:t>Journal of Communication</a:t>
            </a:r>
            <a:r>
              <a:rPr lang="en-US" sz="900" noProof="0" dirty="0"/>
              <a:t> 56 (1): 110–132. </a:t>
            </a:r>
          </a:p>
          <a:p>
            <a:r>
              <a:rPr lang="en-US" sz="900" b="1" noProof="0" dirty="0"/>
              <a:t>Kaplan, Andreas M., and Michael Haenlein.</a:t>
            </a:r>
            <a:r>
              <a:rPr lang="en-US" sz="900" noProof="0" dirty="0"/>
              <a:t> 2010. "Users of the World, Unite! The Challenges and Opportunities of Social Media." </a:t>
            </a:r>
            <a:r>
              <a:rPr lang="en-US" sz="900" i="1" noProof="0" dirty="0"/>
              <a:t>Business Horizons</a:t>
            </a:r>
            <a:r>
              <a:rPr lang="en-US" sz="900" noProof="0" dirty="0"/>
              <a:t> 53 (1): 59–68. </a:t>
            </a:r>
          </a:p>
          <a:p>
            <a:r>
              <a:rPr lang="en-US" sz="900" b="1" noProof="0" dirty="0"/>
              <a:t>Lim, Jungwon.</a:t>
            </a:r>
            <a:r>
              <a:rPr lang="en-US" sz="900" noProof="0" dirty="0"/>
              <a:t> 2021. "Global Brand Standardization versus Local Responsiveness in B2B Technology Sectors: A Strategic Communication Review." </a:t>
            </a:r>
            <a:r>
              <a:rPr lang="en-US" sz="900" i="1" noProof="0" dirty="0"/>
              <a:t>International Journal of Strategic Communication</a:t>
            </a:r>
            <a:r>
              <a:rPr lang="en-US" sz="900" noProof="0" dirty="0"/>
              <a:t> 15 (4): 312–330. </a:t>
            </a:r>
          </a:p>
          <a:p>
            <a:r>
              <a:rPr lang="en-US" sz="900" b="1" noProof="0" dirty="0"/>
              <a:t>Logg, Jennifer M., Julia A. Minson, and Don A. Moore.</a:t>
            </a:r>
            <a:r>
              <a:rPr lang="en-US" sz="900" noProof="0" dirty="0"/>
              <a:t> 2019. "Algorithm Appreciation: People Prefer Algorithmic To Human Judgment." </a:t>
            </a:r>
            <a:r>
              <a:rPr lang="en-US" sz="900" i="1" noProof="0" dirty="0"/>
              <a:t>Organizational Behavior and Human Decision Processes</a:t>
            </a:r>
            <a:r>
              <a:rPr lang="en-US" sz="900" noProof="0" dirty="0"/>
              <a:t> 151: 90–103. </a:t>
            </a:r>
          </a:p>
          <a:p>
            <a:r>
              <a:rPr lang="en-US" sz="900" b="1" noProof="0" dirty="0"/>
              <a:t>Martin, Kirsten.</a:t>
            </a:r>
            <a:r>
              <a:rPr lang="en-US" sz="900" noProof="0" dirty="0"/>
              <a:t> 2019. "Ethical Implications of Data Ingestion and Automated Algorithmic Systems in Corporate Communications." </a:t>
            </a:r>
            <a:r>
              <a:rPr lang="en-US" sz="900" i="1" noProof="0" dirty="0"/>
              <a:t>Journal of Business Ethics</a:t>
            </a:r>
            <a:r>
              <a:rPr lang="en-US" sz="900" noProof="0" dirty="0"/>
              <a:t> 160 (4): 835–850. </a:t>
            </a:r>
          </a:p>
          <a:p>
            <a:endParaRPr lang="en-US" sz="900" noProof="0" dirty="0"/>
          </a:p>
          <a:p>
            <a:endParaRPr lang="en-US" sz="900" noProof="0" dirty="0"/>
          </a:p>
          <a:p>
            <a:endParaRPr lang="en-US" sz="900" noProof="0" dirty="0"/>
          </a:p>
          <a:p>
            <a:endParaRPr lang="en-US" sz="900" noProof="0" dirty="0"/>
          </a:p>
        </p:txBody>
      </p:sp>
    </p:spTree>
    <p:extLst>
      <p:ext uri="{BB962C8B-B14F-4D97-AF65-F5344CB8AC3E}">
        <p14:creationId xmlns:p14="http://schemas.microsoft.com/office/powerpoint/2010/main" val="14111181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D34352-437A-D1C8-690E-E0736E4FA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b="1" noProof="0" dirty="0">
                <a:solidFill>
                  <a:srgbClr val="FFFFFF"/>
                </a:solidFill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81DCEF-6CCB-C74E-DCD1-B55B48BF48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US" sz="900" b="1" noProof="0" dirty="0"/>
              <a:t>Mocker, Martin, Peter Weill, and Stephanie L. Woerner.</a:t>
            </a:r>
            <a:r>
              <a:rPr lang="en-US" sz="900" noProof="0" dirty="0"/>
              <a:t> 2014. "Revisiting Enterprise Architecture: How SAP Leverages Native Localized Governance." </a:t>
            </a:r>
            <a:r>
              <a:rPr lang="en-US" sz="900" i="1" noProof="0" dirty="0"/>
              <a:t>MIS Quarterly Executive</a:t>
            </a:r>
            <a:r>
              <a:rPr lang="en-US" sz="900" noProof="0" dirty="0"/>
              <a:t> 13 (3): 145–162. </a:t>
            </a:r>
          </a:p>
          <a:p>
            <a:r>
              <a:rPr lang="en-US" sz="900" b="1" noProof="0" dirty="0"/>
              <a:t>Okazaki, Shintaro, and Barbara Mueller.</a:t>
            </a:r>
            <a:r>
              <a:rPr lang="en-US" sz="900" noProof="0" dirty="0"/>
              <a:t> 2007. "Cross-Cultural Advertising Research: Where We Have Been and Where We Need to Go." </a:t>
            </a:r>
            <a:r>
              <a:rPr lang="en-US" sz="900" i="1" noProof="0" dirty="0"/>
              <a:t>International Marketing Review</a:t>
            </a:r>
            <a:r>
              <a:rPr lang="en-US" sz="900" noProof="0" dirty="0"/>
              <a:t> 24 (5): 499–531. </a:t>
            </a:r>
          </a:p>
          <a:p>
            <a:r>
              <a:rPr lang="en-US" sz="900" b="1" noProof="0" dirty="0"/>
              <a:t>Vance, Anthony, Paul Benjamin Lowry, and Dennis Eggett.</a:t>
            </a:r>
            <a:r>
              <a:rPr lang="en-US" sz="900" noProof="0" dirty="0"/>
              <a:t> 2015. "Increasing Organizational Trust in Cross-Border Digital Services through Localized Certification Audits." </a:t>
            </a:r>
            <a:r>
              <a:rPr lang="en-US" sz="900" i="1" noProof="0" dirty="0"/>
              <a:t>Journal of Management Information Systems</a:t>
            </a:r>
            <a:r>
              <a:rPr lang="en-US" sz="900" noProof="0" dirty="0"/>
              <a:t> 32 (4): 214–247. </a:t>
            </a:r>
          </a:p>
          <a:p>
            <a:r>
              <a:rPr lang="en-US" sz="900" b="1" noProof="0" dirty="0"/>
              <a:t>Yin, Robert K.</a:t>
            </a:r>
            <a:r>
              <a:rPr lang="en-US" sz="900" noProof="0" dirty="0"/>
              <a:t> 2018. </a:t>
            </a:r>
            <a:r>
              <a:rPr lang="en-US" sz="900" i="1" noProof="0" dirty="0"/>
              <a:t>Case Study Research and Applications: Design and Methods.</a:t>
            </a:r>
            <a:r>
              <a:rPr lang="en-US" sz="900" noProof="0" dirty="0"/>
              <a:t> 6th ed. Los Angeles: SAGE Publications. </a:t>
            </a:r>
          </a:p>
          <a:p>
            <a:r>
              <a:rPr lang="en-US" sz="900" b="1" noProof="0" dirty="0"/>
              <a:t>Zerfass, Ansgar, Dejan Verčič, Howard Nothhaft, and Kelly Page Werder.</a:t>
            </a:r>
            <a:r>
              <a:rPr lang="en-US" sz="900" noProof="0" dirty="0"/>
              <a:t> 2020. "Strategic Communication: Defining the Field and its Future Challenges." </a:t>
            </a:r>
            <a:r>
              <a:rPr lang="en-US" sz="900" i="1" noProof="0" dirty="0"/>
              <a:t>International Journal of Strategic Communication</a:t>
            </a:r>
            <a:r>
              <a:rPr lang="en-US" sz="900" noProof="0" dirty="0"/>
              <a:t> 14 (1): 3–21. </a:t>
            </a:r>
          </a:p>
          <a:p>
            <a:endParaRPr lang="en-US" sz="900" noProof="0" dirty="0"/>
          </a:p>
        </p:txBody>
      </p:sp>
    </p:spTree>
    <p:extLst>
      <p:ext uri="{BB962C8B-B14F-4D97-AF65-F5344CB8AC3E}">
        <p14:creationId xmlns:p14="http://schemas.microsoft.com/office/powerpoint/2010/main" val="20130136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1523</Words>
  <Application>Microsoft Office PowerPoint</Application>
  <PresentationFormat>Widescreen</PresentationFormat>
  <Paragraphs>161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Aptos</vt:lpstr>
      <vt:lpstr>Aptos Display</vt:lpstr>
      <vt:lpstr>Arial</vt:lpstr>
      <vt:lpstr>Calibri</vt:lpstr>
      <vt:lpstr>Office Theme</vt:lpstr>
      <vt:lpstr>Global Strategies, Local Voices: How AI Changes B2B Communication Across Cultures </vt:lpstr>
      <vt:lpstr>Research Problem</vt:lpstr>
      <vt:lpstr>Why Localization Still Matters </vt:lpstr>
      <vt:lpstr>Case Studies</vt:lpstr>
      <vt:lpstr>Microsoft's Global Strategy</vt:lpstr>
      <vt:lpstr>Microsoft in Germany</vt:lpstr>
      <vt:lpstr>Microsoft in the United States</vt:lpstr>
      <vt:lpstr>SAP's Communication Strategy</vt:lpstr>
      <vt:lpstr>Comparing Both Approaches</vt:lpstr>
      <vt:lpstr>Where AI Helps—and Where It Doesn't</vt:lpstr>
      <vt:lpstr>Ethics in AI Communication</vt:lpstr>
      <vt:lpstr>Applying the ALTAI Framework</vt:lpstr>
      <vt:lpstr>Proposed Governance Model</vt:lpstr>
      <vt:lpstr>Research Approach</vt:lpstr>
      <vt:lpstr>Strategic Recommendations</vt:lpstr>
      <vt:lpstr>Conclusion</vt:lpstr>
      <vt:lpstr>References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muhammad-ahmed.nasir</dc:creator>
  <cp:lastModifiedBy>muhammad-ahmed.nasir</cp:lastModifiedBy>
  <cp:revision>10</cp:revision>
  <dcterms:created xsi:type="dcterms:W3CDTF">2026-06-27T20:17:04Z</dcterms:created>
  <dcterms:modified xsi:type="dcterms:W3CDTF">2026-06-28T17:14:21Z</dcterms:modified>
</cp:coreProperties>
</file>